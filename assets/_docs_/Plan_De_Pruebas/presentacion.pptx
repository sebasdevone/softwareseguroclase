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A1A1A"/>
                </a:solidFill>
              </a:rPr>
              <a:t>Plan de Pruebas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23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E6DCC"/>
                </a:solidFill>
              </a:rPr>
              <a:t>Desarrollo de Software Seguro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3154680"/>
            <a:ext cx="11247120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Juan Sebastián  ·  Jair David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PHPUnit 11  ·  PHP 8.x  · 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20 de junio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¿Sobre qué estamos probando?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2100" b="0" i="0">
                <a:solidFill>
                  <a:srgbClr val="1A1A1A"/>
                </a:solidFill>
              </a:rPr>
              <a:t>Aplicación de inventario en PHP  —  patrón MVC sin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56616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6DCC"/>
                </a:solidFill>
              </a:rPr>
              <a:t>Modelo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2944368"/>
            <a:ext cx="3291840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30175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User.php
DataBase.php
CRUD + autenticación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2286000"/>
            <a:ext cx="356616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377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6DCC"/>
                </a:solidFill>
              </a:rPr>
              <a:t>Controlador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07992" y="2944368"/>
            <a:ext cx="3291840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07992" y="30175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Login.php
Users.php
Dashboard.php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2286000"/>
            <a:ext cx="356616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2377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6DCC"/>
                </a:solidFill>
              </a:rPr>
              <a:t>Pruebas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21624" y="2944368"/>
            <a:ext cx="3291840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21624" y="30175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PHPUnit 11
Unit + Integration
Mocks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Análisis de las pruebas existentes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Las pruebas de clase — ¿qué tan bien estaban?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824F"/>
                </a:solidFill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</a:rPr>
              <a:t>UserTest.php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13 casos de constructores y getters/setters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2221992"/>
            <a:ext cx="1143000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22860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824F"/>
                </a:solidFill>
              </a:rP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</a:rPr>
              <a:t>DataBaseTest.php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33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Verifica PDO y modo de error — correcto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" y="3090672"/>
            <a:ext cx="1143000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31546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</a:rPr>
              <a:t>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</a:rPr>
              <a:t>LoginTests.php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021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Llamaba validate() que NO existía → error fatal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" y="3959352"/>
            <a:ext cx="1143000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" y="4023359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</a:rPr>
              <a:t>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233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</a:rPr>
              <a:t>UsersTest.php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70831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Solo contenía assertTrue(true) — placeholder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" y="4828031"/>
            <a:ext cx="1143000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" y="48920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</a:rPr>
              <a:t>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</a:rPr>
              <a:t>UserFlowTests.php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95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Archivo vacío — sin ningún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El hallazgo crítico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LoginTests.php invocaba un método inexistente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Lo que había (roto)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5303520" cy="1463040"/>
          </a:xfrm>
          <a:prstGeom prst="rect">
            <a:avLst/>
          </a:prstGeom>
          <a:solidFill>
            <a:srgbClr val="FFF0F0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400">
                <a:solidFill>
                  <a:srgbClr val="C0392B"/>
                </a:solidFill>
                <a:latin typeface="Courier New"/>
              </a:rPr>
              <a:t>$login = new \Login();</a:t>
            </a:r>
          </a:p>
          <a:p>
            <a:pPr>
              <a:spcBef>
                <a:spcPts val="100"/>
              </a:spcBef>
            </a:pPr>
            <a:r>
              <a:rPr sz="1400">
                <a:solidFill>
                  <a:srgbClr val="C0392B"/>
                </a:solidFill>
                <a:latin typeface="Courier New"/>
              </a:rPr>
              <a:t>$result = $login-&gt;validate('', '');</a:t>
            </a:r>
          </a:p>
          <a:p>
            <a:pPr>
              <a:spcBef>
                <a:spcPts val="100"/>
              </a:spcBef>
            </a:pPr>
            <a:r>
              <a:rPr sz="1400">
                <a:solidFill>
                  <a:srgbClr val="C0392B"/>
                </a:solidFill>
                <a:latin typeface="Courier New"/>
              </a:rPr>
              <a:t>// ✘ Login no tenía validate()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0392B"/>
                </a:solidFill>
              </a:rPr>
              <a:t>Resultado: error fatal de PHP
"Call to undefined method Login::validate()"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560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6DCC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824F"/>
                </a:solidFill>
              </a:rPr>
              <a:t>Lo que hicimos (correcto)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5303520" cy="2286000"/>
          </a:xfrm>
          <a:prstGeom prst="rect">
            <a:avLst/>
          </a:prstGeom>
          <a:solidFill>
            <a:srgbClr val="F0FFF4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300">
                <a:solidFill>
                  <a:srgbClr val="27824F"/>
                </a:solidFill>
                <a:latin typeface="Courier New"/>
              </a:rPr>
              <a:t>// validate() con inyección de dependencia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27824F"/>
                </a:solidFill>
                <a:latin typeface="Courier New"/>
              </a:rPr>
              <a:t>public function validate(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27824F"/>
                </a:solidFill>
                <a:latin typeface="Courier New"/>
              </a:rPr>
              <a:t>  string $email, string $pass,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27824F"/>
                </a:solidFill>
                <a:latin typeface="Courier New"/>
              </a:rPr>
              <a:t>  ?User $user = null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27824F"/>
                </a:solidFill>
                <a:latin typeface="Courier New"/>
              </a:rPr>
              <a:t>): bool {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27824F"/>
                </a:solidFill>
                <a:latin typeface="Courier New"/>
              </a:rPr>
              <a:t>  $user = $user ?? new User($email,$pass);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27824F"/>
                </a:solidFill>
                <a:latin typeface="Courier New"/>
              </a:rPr>
              <a:t>  return $user-&gt;login() !== false;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27824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Unitario vs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¿Por qué importa la diferencia?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39496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6DCC"/>
                </a:solidFill>
              </a:rPr>
              <a:t>Prueba Unitaria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Prueba una sola clase en aislamiento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487168"/>
            <a:ext cx="507492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5786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✔  No necesita base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0779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✔  Usa mocks para simular dependencias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369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✔  Rápida y determinista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953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Nuestros tests unitarios: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  TC-J01  validate() — email vacío → 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537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  TC-J02  validate() — pass vacía → false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828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  TC-J03  validate() — user inexistente → false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539496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508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6DCC"/>
                </a:solidFill>
              </a:rPr>
              <a:t>Prueba de Integración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057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Prueba la interacción con sistemas externos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37960" y="2487168"/>
            <a:ext cx="507492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0" y="25786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✔  Requiere base de datos activa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0779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✔  Verifica flujos reales end-to-end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369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✔  markTestSkipped() si BD no está disponible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566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953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Nuestros tests de integración: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2452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  TC-J04  constructor sin parámetros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5537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  TC-J05  login() — credenciales inválidas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8828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  TC-J06  login() — usuario inexistente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¿Qué es un mock?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Y por qué fue necesario usarlo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Un mock es un objeto falso que reemplaza una dependencia real durante el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Permite probar una clase en aislamiento, sin importar si sus dependencias funcionan.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3200400" cy="457200"/>
          </a:xfrm>
          <a:prstGeom prst="rect">
            <a:avLst/>
          </a:prstGeom>
          <a:solidFill>
            <a:srgbClr val="2E6DCC"/>
          </a:solidFill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LoginTest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606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06040"/>
            <a:ext cx="3200400" cy="457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</a:rPr>
              <a:t>Login::validate()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606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606040"/>
            <a:ext cx="3108960" cy="457200"/>
          </a:xfrm>
          <a:prstGeom prst="rect">
            <a:avLst/>
          </a:prstGeom>
          <a:solidFill>
            <a:srgbClr val="27824F"/>
          </a:solidFill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Mock de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7824F"/>
                </a:solidFill>
              </a:rPr>
              <a:t>(login() devuelve false
 sin tocar la BD)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1247120" cy="2651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450">
                <a:solidFill>
                  <a:srgbClr val="1A1A1A"/>
                </a:solidFill>
                <a:latin typeface="Courier New"/>
              </a:rPr>
              <a:t>$mockUser = $this-&gt;createMock(\User::class);</a:t>
            </a:r>
          </a:p>
          <a:p>
            <a:pPr>
              <a:spcBef>
                <a:spcPts val="100"/>
              </a:spcBef>
            </a:pPr>
            <a:r>
              <a:rPr sz="1450">
                <a:solidFill>
                  <a:srgbClr val="1A1A1A"/>
                </a:solidFill>
                <a:latin typeface="Courier New"/>
              </a:rPr>
              <a:t>$mockUser-&gt;method('login')-&gt;willReturn(false);</a:t>
            </a:r>
          </a:p>
          <a:p>
            <a:pPr>
              <a:spcBef>
                <a:spcPts val="100"/>
              </a:spcBef>
            </a:pPr>
            <a:r>
              <a:rPr sz="145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450">
                <a:solidFill>
                  <a:srgbClr val="1A1A1A"/>
                </a:solidFill>
                <a:latin typeface="Courier New"/>
              </a:rPr>
              <a:t>$login = new \Login();</a:t>
            </a:r>
          </a:p>
          <a:p>
            <a:pPr>
              <a:spcBef>
                <a:spcPts val="100"/>
              </a:spcBef>
            </a:pPr>
            <a:r>
              <a:rPr sz="1450">
                <a:solidFill>
                  <a:srgbClr val="1A1A1A"/>
                </a:solidFill>
                <a:latin typeface="Courier New"/>
              </a:rPr>
              <a:t>$result = $login-&gt;validate('', '1234', $mockUser);</a:t>
            </a:r>
          </a:p>
          <a:p>
            <a:pPr>
              <a:spcBef>
                <a:spcPts val="100"/>
              </a:spcBef>
            </a:pPr>
            <a:r>
              <a:rPr sz="145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450">
                <a:solidFill>
                  <a:srgbClr val="1A1A1A"/>
                </a:solidFill>
                <a:latin typeface="Courier New"/>
              </a:rPr>
              <a:t>$this-&gt;assertFalse($result);   // ✔ pasa sin BD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División de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Quién hizo 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011680" cy="64008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554480"/>
            <a:ext cx="19202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Integrante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463040"/>
            <a:ext cx="1828800" cy="64008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96312" y="1554480"/>
            <a:ext cx="1737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4114800" cy="64008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2" y="1554480"/>
            <a:ext cx="4023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Archivo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1463040"/>
            <a:ext cx="2926080" cy="64008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1554480"/>
            <a:ext cx="28346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0312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1762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Juan Sebastián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10312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96312" y="217627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Unitario
(mock)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10312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217627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tests/Unit/Controllers/
LoginTests.php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103120"/>
            <a:ext cx="2926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217627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TC-J01, TC-J02, TC-J03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43200"/>
            <a:ext cx="201168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81635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Juan Sebastián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2743200"/>
            <a:ext cx="18288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6312" y="281635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Integración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2743200"/>
            <a:ext cx="41148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0832" y="281635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tests/Integration/
AuthIntegrationTest.php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2743200"/>
            <a:ext cx="292608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2" y="281635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TC-J04, TC-J05, TC-J06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83279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345643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Jair David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3160" y="3383279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96312" y="345643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Integración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383279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0832" y="345643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tests/Integration/
UserFlowTests.php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3383279"/>
            <a:ext cx="2926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345643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TC-JD01 a TC-JD06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023359"/>
            <a:ext cx="201168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4096511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Jair David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23160" y="4023359"/>
            <a:ext cx="18288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96312" y="4096511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Unitario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4023359"/>
            <a:ext cx="41148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0832" y="4096511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tests/Unit/Controllers/
UsersTest.php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58200" y="4023359"/>
            <a:ext cx="292608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1352" y="4096511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TC-JD07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A1A1A"/>
                </a:solidFill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6DCC"/>
                </a:solidFill>
              </a:rPr>
              <a:t>vendor/bin/phpunit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555555"/>
                </a:solidFill>
              </a:rPr>
              <a:t>C:\xampp\htdocs\desarrollo_soft_seguro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